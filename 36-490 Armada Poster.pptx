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27432000" cx="384048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640">
          <p15:clr>
            <a:srgbClr val="747775"/>
          </p15:clr>
        </p15:guide>
        <p15:guide id="2" pos="120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84B063-348C-4772-884B-44B12C6674AF}">
  <a:tblStyle styleId="{0884B063-348C-4772-884B-44B12C6674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40" orient="horz"/>
        <p:guide pos="12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29008" y="685800"/>
            <a:ext cx="48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8444b612_0_11:notes"/>
          <p:cNvSpPr/>
          <p:nvPr>
            <p:ph idx="2" type="sldImg"/>
          </p:nvPr>
        </p:nvSpPr>
        <p:spPr>
          <a:xfrm>
            <a:off x="1029008" y="685800"/>
            <a:ext cx="48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8444b6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309175" y="3971067"/>
            <a:ext cx="35786400" cy="10947300"/>
          </a:xfrm>
          <a:prstGeom prst="rect">
            <a:avLst/>
          </a:prstGeom>
        </p:spPr>
        <p:txBody>
          <a:bodyPr anchorCtr="0" anchor="b" bIns="418525" lIns="418525" spcFirstLastPara="1" rIns="418525" wrap="square" tIns="418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309140" y="15115333"/>
            <a:ext cx="35786400" cy="42273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309140" y="11471200"/>
            <a:ext cx="35786400" cy="44895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500"/>
              <a:buNone/>
              <a:defRPr sz="16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309140" y="2373467"/>
            <a:ext cx="35786400" cy="30543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309140" y="6146533"/>
            <a:ext cx="35786400" cy="182208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indent="-749300" lvl="0" marL="457200">
              <a:spcBef>
                <a:spcPts val="0"/>
              </a:spcBef>
              <a:spcAft>
                <a:spcPts val="0"/>
              </a:spcAft>
              <a:buSzPts val="8200"/>
              <a:buChar char="●"/>
              <a:defRPr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309140" y="2373467"/>
            <a:ext cx="35786400" cy="30543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309140" y="6146533"/>
            <a:ext cx="16799700" cy="182208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577850" lvl="1" marL="9144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2pPr>
            <a:lvl3pPr indent="-577850" lvl="2" marL="13716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3pPr>
            <a:lvl4pPr indent="-577850" lvl="3" marL="18288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4pPr>
            <a:lvl5pPr indent="-577850" lvl="4" marL="22860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5pPr>
            <a:lvl6pPr indent="-577850" lvl="5" marL="27432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6pPr>
            <a:lvl7pPr indent="-577850" lvl="6" marL="32004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7pPr>
            <a:lvl8pPr indent="-577850" lvl="7" marL="36576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8pPr>
            <a:lvl9pPr indent="-577850" lvl="8" marL="41148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0296080" y="6146533"/>
            <a:ext cx="16799700" cy="182208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577850" lvl="1" marL="9144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2pPr>
            <a:lvl3pPr indent="-577850" lvl="2" marL="13716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3pPr>
            <a:lvl4pPr indent="-577850" lvl="3" marL="18288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4pPr>
            <a:lvl5pPr indent="-577850" lvl="4" marL="22860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5pPr>
            <a:lvl6pPr indent="-577850" lvl="5" marL="27432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6pPr>
            <a:lvl7pPr indent="-577850" lvl="6" marL="32004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7pPr>
            <a:lvl8pPr indent="-577850" lvl="7" marL="36576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8pPr>
            <a:lvl9pPr indent="-577850" lvl="8" marL="41148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309140" y="2373467"/>
            <a:ext cx="35786400" cy="30543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309140" y="2963200"/>
            <a:ext cx="11793600" cy="4030500"/>
          </a:xfrm>
          <a:prstGeom prst="rect">
            <a:avLst/>
          </a:prstGeom>
        </p:spPr>
        <p:txBody>
          <a:bodyPr anchorCtr="0" anchor="b" bIns="418525" lIns="418525" spcFirstLastPara="1" rIns="418525" wrap="square" tIns="418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1pPr>
            <a:lvl2pPr lvl="1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309140" y="7411200"/>
            <a:ext cx="11793600" cy="169569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indent="-577850" lvl="0" marL="4572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1pPr>
            <a:lvl2pPr indent="-577850" lvl="1" marL="9144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2pPr>
            <a:lvl3pPr indent="-577850" lvl="2" marL="13716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3pPr>
            <a:lvl4pPr indent="-577850" lvl="3" marL="18288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4pPr>
            <a:lvl5pPr indent="-577850" lvl="4" marL="22860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5pPr>
            <a:lvl6pPr indent="-577850" lvl="5" marL="27432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6pPr>
            <a:lvl7pPr indent="-577850" lvl="6" marL="3200400">
              <a:spcBef>
                <a:spcPts val="0"/>
              </a:spcBef>
              <a:spcAft>
                <a:spcPts val="0"/>
              </a:spcAft>
              <a:buSzPts val="5500"/>
              <a:buChar char="●"/>
              <a:defRPr sz="5500"/>
            </a:lvl7pPr>
            <a:lvl8pPr indent="-577850" lvl="7" marL="3657600">
              <a:spcBef>
                <a:spcPts val="0"/>
              </a:spcBef>
              <a:spcAft>
                <a:spcPts val="0"/>
              </a:spcAft>
              <a:buSzPts val="5500"/>
              <a:buChar char="○"/>
              <a:defRPr sz="5500"/>
            </a:lvl8pPr>
            <a:lvl9pPr indent="-577850" lvl="8" marL="4114800">
              <a:spcBef>
                <a:spcPts val="0"/>
              </a:spcBef>
              <a:spcAft>
                <a:spcPts val="0"/>
              </a:spcAft>
              <a:buSzPts val="5500"/>
              <a:buChar char="■"/>
              <a:defRPr sz="5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59050" y="2400800"/>
            <a:ext cx="26744700" cy="218175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1pPr>
            <a:lvl2pPr lvl="1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2pPr>
            <a:lvl3pPr lvl="2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3pPr>
            <a:lvl4pPr lvl="3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4pPr>
            <a:lvl5pPr lvl="4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5pPr>
            <a:lvl6pPr lvl="5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6pPr>
            <a:lvl7pPr lvl="6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7pPr>
            <a:lvl8pPr lvl="7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8pPr>
            <a:lvl9pPr lvl="8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9202400" y="-667"/>
            <a:ext cx="19202400" cy="274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18525" lIns="418525" spcFirstLastPara="1" rIns="418525" wrap="square" tIns="41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115100" y="6576933"/>
            <a:ext cx="16989900" cy="7905600"/>
          </a:xfrm>
          <a:prstGeom prst="rect">
            <a:avLst/>
          </a:prstGeom>
        </p:spPr>
        <p:txBody>
          <a:bodyPr anchorCtr="0" anchor="b" bIns="418525" lIns="418525" spcFirstLastPara="1" rIns="418525" wrap="square" tIns="418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115100" y="14949733"/>
            <a:ext cx="16989900" cy="65871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0745900" y="3861733"/>
            <a:ext cx="16115400" cy="197073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indent="-749300" lvl="0" marL="457200">
              <a:spcBef>
                <a:spcPts val="0"/>
              </a:spcBef>
              <a:spcAft>
                <a:spcPts val="0"/>
              </a:spcAft>
              <a:buSzPts val="8200"/>
              <a:buChar char="●"/>
              <a:defRPr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309140" y="22563067"/>
            <a:ext cx="25194900" cy="3227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309140" y="5899333"/>
            <a:ext cx="35786400" cy="10472100"/>
          </a:xfrm>
          <a:prstGeom prst="rect">
            <a:avLst/>
          </a:prstGeom>
        </p:spPr>
        <p:txBody>
          <a:bodyPr anchorCtr="0" anchor="b" bIns="418525" lIns="418525" spcFirstLastPara="1" rIns="418525" wrap="square" tIns="418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900"/>
              <a:buNone/>
              <a:defRPr sz="549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309140" y="16811867"/>
            <a:ext cx="35786400" cy="6937500"/>
          </a:xfrm>
          <a:prstGeom prst="rect">
            <a:avLst/>
          </a:prstGeom>
        </p:spPr>
        <p:txBody>
          <a:bodyPr anchorCtr="0" anchor="t" bIns="418525" lIns="418525" spcFirstLastPara="1" rIns="418525" wrap="square" tIns="418525">
            <a:normAutofit/>
          </a:bodyPr>
          <a:lstStyle>
            <a:lvl1pPr indent="-749300" lvl="0" marL="457200" algn="ctr">
              <a:spcBef>
                <a:spcPts val="0"/>
              </a:spcBef>
              <a:spcAft>
                <a:spcPts val="0"/>
              </a:spcAft>
              <a:buSzPts val="8200"/>
              <a:buChar char="●"/>
              <a:defRPr/>
            </a:lvl1pPr>
            <a:lvl2pPr indent="-635000" lvl="1" marL="914400" algn="ctr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2pPr>
            <a:lvl3pPr indent="-635000" lvl="2" marL="1371600" algn="ctr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3pPr>
            <a:lvl4pPr indent="-635000" lvl="3" marL="1828800" algn="ctr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4pPr>
            <a:lvl5pPr indent="-635000" lvl="4" marL="2286000" algn="ctr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5pPr>
            <a:lvl6pPr indent="-635000" lvl="5" marL="2743200" algn="ctr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6pPr>
            <a:lvl7pPr indent="-635000" lvl="6" marL="3200400" algn="ctr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7pPr>
            <a:lvl8pPr indent="-635000" lvl="7" marL="3657600" algn="ctr">
              <a:spcBef>
                <a:spcPts val="0"/>
              </a:spcBef>
              <a:spcAft>
                <a:spcPts val="0"/>
              </a:spcAft>
              <a:buSzPts val="6400"/>
              <a:buChar char="○"/>
              <a:defRPr/>
            </a:lvl8pPr>
            <a:lvl9pPr indent="-635000" lvl="8" marL="4114800" algn="ctr">
              <a:spcBef>
                <a:spcPts val="0"/>
              </a:spcBef>
              <a:spcAft>
                <a:spcPts val="0"/>
              </a:spcAft>
              <a:buSzPts val="6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309140" y="2373467"/>
            <a:ext cx="35786400" cy="30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8525" lIns="418525" spcFirstLastPara="1" rIns="418525" wrap="square" tIns="418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None/>
              <a:defRPr sz="1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309140" y="6146533"/>
            <a:ext cx="35786400" cy="18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8525" lIns="418525" spcFirstLastPara="1" rIns="418525" wrap="square" tIns="418525">
            <a:normAutofit/>
          </a:bodyPr>
          <a:lstStyle>
            <a:lvl1pPr indent="-749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Char char="●"/>
              <a:defRPr sz="8200">
                <a:solidFill>
                  <a:schemeClr val="dk2"/>
                </a:solidFill>
              </a:defRPr>
            </a:lvl1pPr>
            <a:lvl2pPr indent="-6350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○"/>
              <a:defRPr sz="6400">
                <a:solidFill>
                  <a:schemeClr val="dk2"/>
                </a:solidFill>
              </a:defRPr>
            </a:lvl2pPr>
            <a:lvl3pPr indent="-6350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■"/>
              <a:defRPr sz="6400">
                <a:solidFill>
                  <a:schemeClr val="dk2"/>
                </a:solidFill>
              </a:defRPr>
            </a:lvl3pPr>
            <a:lvl4pPr indent="-6350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●"/>
              <a:defRPr sz="6400">
                <a:solidFill>
                  <a:schemeClr val="dk2"/>
                </a:solidFill>
              </a:defRPr>
            </a:lvl4pPr>
            <a:lvl5pPr indent="-6350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○"/>
              <a:defRPr sz="6400">
                <a:solidFill>
                  <a:schemeClr val="dk2"/>
                </a:solidFill>
              </a:defRPr>
            </a:lvl5pPr>
            <a:lvl6pPr indent="-6350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■"/>
              <a:defRPr sz="6400">
                <a:solidFill>
                  <a:schemeClr val="dk2"/>
                </a:solidFill>
              </a:defRPr>
            </a:lvl6pPr>
            <a:lvl7pPr indent="-6350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●"/>
              <a:defRPr sz="6400">
                <a:solidFill>
                  <a:schemeClr val="dk2"/>
                </a:solidFill>
              </a:defRPr>
            </a:lvl7pPr>
            <a:lvl8pPr indent="-6350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○"/>
              <a:defRPr sz="6400">
                <a:solidFill>
                  <a:schemeClr val="dk2"/>
                </a:solidFill>
              </a:defRPr>
            </a:lvl8pPr>
            <a:lvl9pPr indent="-6350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■"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5584323" y="24870490"/>
            <a:ext cx="2304600" cy="20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25" lIns="418525" spcFirstLastPara="1" rIns="418525" wrap="square" tIns="418525">
            <a:normAutofit/>
          </a:bodyPr>
          <a:lstStyle>
            <a:lvl1pPr lvl="0" algn="r">
              <a:buNone/>
              <a:defRPr sz="4600">
                <a:solidFill>
                  <a:schemeClr val="dk2"/>
                </a:solidFill>
              </a:defRPr>
            </a:lvl1pPr>
            <a:lvl2pPr lvl="1" algn="r">
              <a:buNone/>
              <a:defRPr sz="4600">
                <a:solidFill>
                  <a:schemeClr val="dk2"/>
                </a:solidFill>
              </a:defRPr>
            </a:lvl2pPr>
            <a:lvl3pPr lvl="2" algn="r">
              <a:buNone/>
              <a:defRPr sz="4600">
                <a:solidFill>
                  <a:schemeClr val="dk2"/>
                </a:solidFill>
              </a:defRPr>
            </a:lvl3pPr>
            <a:lvl4pPr lvl="3" algn="r">
              <a:buNone/>
              <a:defRPr sz="4600">
                <a:solidFill>
                  <a:schemeClr val="dk2"/>
                </a:solidFill>
              </a:defRPr>
            </a:lvl4pPr>
            <a:lvl5pPr lvl="4" algn="r">
              <a:buNone/>
              <a:defRPr sz="4600">
                <a:solidFill>
                  <a:schemeClr val="dk2"/>
                </a:solidFill>
              </a:defRPr>
            </a:lvl5pPr>
            <a:lvl6pPr lvl="5" algn="r">
              <a:buNone/>
              <a:defRPr sz="4600">
                <a:solidFill>
                  <a:schemeClr val="dk2"/>
                </a:solidFill>
              </a:defRPr>
            </a:lvl6pPr>
            <a:lvl7pPr lvl="6" algn="r">
              <a:buNone/>
              <a:defRPr sz="4600">
                <a:solidFill>
                  <a:schemeClr val="dk2"/>
                </a:solidFill>
              </a:defRPr>
            </a:lvl7pPr>
            <a:lvl8pPr lvl="7" algn="r">
              <a:buNone/>
              <a:defRPr sz="4600">
                <a:solidFill>
                  <a:schemeClr val="dk2"/>
                </a:solidFill>
              </a:defRPr>
            </a:lvl8pPr>
            <a:lvl9pPr lvl="8" algn="r">
              <a:buNone/>
              <a:defRPr sz="4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5.png"/><Relationship Id="rId13" Type="http://schemas.openxmlformats.org/officeDocument/2006/relationships/image" Target="../media/image5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5" Type="http://schemas.openxmlformats.org/officeDocument/2006/relationships/image" Target="../media/image7.png"/><Relationship Id="rId14" Type="http://schemas.openxmlformats.org/officeDocument/2006/relationships/image" Target="../media/image2.png"/><Relationship Id="rId17" Type="http://schemas.openxmlformats.org/officeDocument/2006/relationships/image" Target="../media/image6.png"/><Relationship Id="rId16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XGBoost vs LightGBM Tree-2025-12-15-0338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4464" y="6827938"/>
            <a:ext cx="16130463" cy="460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25" y="751950"/>
            <a:ext cx="4734701" cy="47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588000" y="751950"/>
            <a:ext cx="32476200" cy="4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50" lIns="0" spcFirstLastPara="1" rIns="0" wrap="square" tIns="4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CC0000"/>
                </a:solidFill>
              </a:rPr>
              <a:t>Ranking Market Desirability</a:t>
            </a:r>
            <a:endParaRPr b="1" sz="120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CC0000"/>
                </a:solidFill>
              </a:rPr>
              <a:t>For Armada Carriers</a:t>
            </a:r>
            <a:endParaRPr b="1" sz="5200">
              <a:solidFill>
                <a:srgbClr val="CC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900">
              <a:solidFill>
                <a:srgbClr val="FF0000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587994" y="3805195"/>
            <a:ext cx="297204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0" spcFirstLastPara="1" rIns="0" wrap="square" tIns="8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5063"/>
              <a:buFont typeface="Arial"/>
              <a:buNone/>
            </a:pPr>
            <a:r>
              <a:rPr lang="en" sz="5800">
                <a:solidFill>
                  <a:srgbClr val="003A70"/>
                </a:solidFill>
              </a:rPr>
              <a:t>By Aidan McIndoe, Michael Zheng, Yuhao Ren</a:t>
            </a:r>
            <a:endParaRPr sz="5800"/>
          </a:p>
        </p:txBody>
      </p:sp>
      <p:sp>
        <p:nvSpPr>
          <p:cNvPr id="58" name="Google Shape;58;p13"/>
          <p:cNvSpPr txBox="1"/>
          <p:nvPr/>
        </p:nvSpPr>
        <p:spPr>
          <a:xfrm>
            <a:off x="5587994" y="4801245"/>
            <a:ext cx="297204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0" spcFirstLastPara="1" rIns="0" wrap="square" tIns="85725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Arial"/>
              <a:buNone/>
            </a:pPr>
            <a:r>
              <a:rPr lang="en" sz="5063">
                <a:solidFill>
                  <a:srgbClr val="003A70"/>
                </a:solidFill>
              </a:rPr>
              <a:t>Research Advisor:	 Gonzalo Mena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848804" y="5797300"/>
            <a:ext cx="15196200" cy="841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Introduction</a:t>
            </a:r>
            <a:endParaRPr b="1" sz="60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144465" y="5797288"/>
            <a:ext cx="20456700" cy="841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Methods</a:t>
            </a:r>
            <a:endParaRPr b="1" sz="6000">
              <a:solidFill>
                <a:schemeClr val="lt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9250" y="8908325"/>
            <a:ext cx="5596110" cy="3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5775" y="6749414"/>
            <a:ext cx="4563052" cy="197006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8305288" y="7047875"/>
            <a:ext cx="7497300" cy="50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Armada Supply Chain Solutions is a national Logistics Company which operates a network of carriers across the United States. Armada coordinates with both internal and external carriers in order to ensure that truck loads reach their intended destination in a timely manner.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However, not all markets are created equal. Although Armada has to service certain markets regardless of volume, carriers have individual preferences for different markets. Carriers are also semi-autonomous, and can decline truck loads for various reasons.</a:t>
            </a:r>
            <a:br>
              <a:rPr lang="en" sz="2000">
                <a:solidFill>
                  <a:schemeClr val="dk2"/>
                </a:solidFill>
              </a:rPr>
            </a:b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Our project sought to determine which markets were most desirable to carriers, and then provide a ranking of the most desirable markets.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7">
            <a:alphaModFix/>
          </a:blip>
          <a:srcRect b="3871" l="0" r="0" t="52541"/>
          <a:stretch/>
        </p:blipFill>
        <p:spPr>
          <a:xfrm>
            <a:off x="29623300" y="14058562"/>
            <a:ext cx="9039208" cy="19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608125" y="12278563"/>
            <a:ext cx="14857800" cy="841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Results</a:t>
            </a:r>
            <a:endParaRPr b="1" sz="6000">
              <a:solidFill>
                <a:schemeClr val="lt1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608125" y="22682300"/>
            <a:ext cx="14857800" cy="841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Conclusion</a:t>
            </a:r>
            <a:endParaRPr b="1" sz="6000">
              <a:solidFill>
                <a:schemeClr val="lt1"/>
              </a:solidFill>
            </a:endParaRPr>
          </a:p>
        </p:txBody>
      </p:sp>
      <p:pic>
        <p:nvPicPr>
          <p:cNvPr id="67" name="Google Shape;67;p13" title="download (1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9688" y="18555114"/>
            <a:ext cx="5102725" cy="4071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download (4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8700" y="14822700"/>
            <a:ext cx="4973044" cy="371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3"/>
          <p:cNvGraphicFramePr/>
          <p:nvPr/>
        </p:nvGraphicFramePr>
        <p:xfrm>
          <a:off x="1153863" y="1361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{0884B063-348C-4772-884B-44B12C6674AF}</a:tableStyleId>
              </a:tblPr>
              <a:tblGrid>
                <a:gridCol w="1742850"/>
                <a:gridCol w="1742850"/>
                <a:gridCol w="1617000"/>
              </a:tblGrid>
              <a:tr h="3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 Negative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AAD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 Positive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AD1FF"/>
                    </a:solidFill>
                  </a:tcPr>
                </a:tc>
              </a:tr>
              <a:tr h="3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 Negative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AAD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 Positive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AD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69113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0" name="Google Shape;70;p13" title="Screenshot 2025-12-14 at 23.06.17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94938" y="18602929"/>
            <a:ext cx="5550026" cy="398124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608125" y="23678350"/>
            <a:ext cx="14857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The Key Takeaways: The following markets are ranked among the top 10 markets when using both approaches. These are: </a:t>
            </a:r>
            <a:r>
              <a:rPr lang="en" sz="2000">
                <a:solidFill>
                  <a:schemeClr val="dk2"/>
                </a:solidFill>
              </a:rPr>
              <a:t>Jacksonville (FL)</a:t>
            </a:r>
            <a:r>
              <a:rPr lang="en" sz="2000">
                <a:solidFill>
                  <a:schemeClr val="dk2"/>
                </a:solidFill>
              </a:rPr>
              <a:t>, Toronto (ON), Madison (WI), Memphis (TN), and Oklahoma (OK). This suggests that these markets are the most </a:t>
            </a:r>
            <a:r>
              <a:rPr lang="en" sz="2000">
                <a:solidFill>
                  <a:schemeClr val="dk2"/>
                </a:solidFill>
              </a:rPr>
              <a:t>desirable</a:t>
            </a:r>
            <a:r>
              <a:rPr lang="en" sz="2000">
                <a:solidFill>
                  <a:schemeClr val="dk2"/>
                </a:solidFill>
              </a:rPr>
              <a:t> markets to Armada carriers. Load lead time and the origin city’s inbound/outbound ratio appeared to significantly influence market </a:t>
            </a:r>
            <a:r>
              <a:rPr lang="en" sz="2000">
                <a:solidFill>
                  <a:schemeClr val="dk2"/>
                </a:solidFill>
              </a:rPr>
              <a:t>desirability</a:t>
            </a:r>
            <a:r>
              <a:rPr lang="en" sz="2000">
                <a:solidFill>
                  <a:schemeClr val="dk2"/>
                </a:solidFill>
              </a:rPr>
              <a:t>. Operational wise, these appear to be more important than pricing for carriers.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Future Research: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●"/>
            </a:pPr>
            <a:r>
              <a:rPr lang="en" sz="2000">
                <a:solidFill>
                  <a:srgbClr val="666666"/>
                </a:solidFill>
              </a:rPr>
              <a:t>Human verification of model results</a:t>
            </a:r>
            <a:endParaRPr sz="2000">
              <a:solidFill>
                <a:srgbClr val="666666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○"/>
            </a:pPr>
            <a:r>
              <a:rPr lang="en" sz="2000">
                <a:solidFill>
                  <a:srgbClr val="666666"/>
                </a:solidFill>
              </a:rPr>
              <a:t>Armada is more familiar with their network than we are, able to identify predictions that seem “off”</a:t>
            </a:r>
            <a:endParaRPr sz="2000">
              <a:solidFill>
                <a:srgbClr val="66666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●"/>
            </a:pPr>
            <a:r>
              <a:rPr lang="en" sz="2000">
                <a:solidFill>
                  <a:srgbClr val="666666"/>
                </a:solidFill>
              </a:rPr>
              <a:t>More detailed analysis of market desirability by more groupings</a:t>
            </a:r>
            <a:endParaRPr sz="2000">
              <a:solidFill>
                <a:srgbClr val="666666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○"/>
            </a:pPr>
            <a:r>
              <a:rPr lang="en" sz="2000">
                <a:solidFill>
                  <a:srgbClr val="666666"/>
                </a:solidFill>
              </a:rPr>
              <a:t>Include other data which might not have been available in this data set</a:t>
            </a:r>
            <a:endParaRPr sz="2000">
              <a:solidFill>
                <a:srgbClr val="66666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●"/>
            </a:pPr>
            <a:r>
              <a:rPr lang="en" sz="2000">
                <a:solidFill>
                  <a:srgbClr val="666666"/>
                </a:solidFill>
              </a:rPr>
              <a:t>The causal analysis pipeline can be easily adjusted, allowing it to investigate other variables of interest</a:t>
            </a:r>
            <a:endParaRPr sz="2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72" name="Google Shape;72;p13" title="Screenshot 2025-12-14 at 23.14.13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42625" y="14878843"/>
            <a:ext cx="5254651" cy="371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title="Screenshot 2025-12-14 at 23.16.37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686275" y="20024175"/>
            <a:ext cx="7497298" cy="466537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1799250" y="13140488"/>
            <a:ext cx="42396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Predictive Model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8650163" y="13293763"/>
            <a:ext cx="42396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Causal Inference Model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76" name="Google Shape;76;p13" title="Decision Path Selection Flow-2025-12-15-042352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088458" y="19591121"/>
            <a:ext cx="13319823" cy="4409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13"/>
          <p:cNvGraphicFramePr/>
          <p:nvPr/>
        </p:nvGraphicFramePr>
        <p:xfrm>
          <a:off x="8179375" y="1392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{0884B063-348C-4772-884B-44B12C6674AF}</a:tableStyleId>
              </a:tblPr>
              <a:tblGrid>
                <a:gridCol w="2775025"/>
                <a:gridCol w="2775025"/>
              </a:tblGrid>
              <a:tr h="45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est Model Test Log Loss: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AD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0.0986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AD1FF"/>
                    </a:solidFill>
                  </a:tcPr>
                </a:tc>
              </a:tr>
            </a:tbl>
          </a:graphicData>
        </a:graphic>
      </p:graphicFrame>
      <p:pic>
        <p:nvPicPr>
          <p:cNvPr id="78" name="Google Shape;78;p13" title="Untitled diagram-2025-12-15-042942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144475" y="12447171"/>
            <a:ext cx="12237947" cy="567080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17088450" y="11624363"/>
            <a:ext cx="108261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</a:rPr>
              <a:t>Predictive</a:t>
            </a:r>
            <a:r>
              <a:rPr b="1" lang="en" sz="3100">
                <a:solidFill>
                  <a:schemeClr val="dk2"/>
                </a:solidFill>
              </a:rPr>
              <a:t> Pipeline</a:t>
            </a:r>
            <a:endParaRPr b="1" sz="3100">
              <a:solidFill>
                <a:schemeClr val="dk2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7088450" y="19129625"/>
            <a:ext cx="108261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</a:rPr>
              <a:t>Causal</a:t>
            </a:r>
            <a:r>
              <a:rPr b="1" lang="en" sz="3100">
                <a:solidFill>
                  <a:schemeClr val="dk2"/>
                </a:solidFill>
              </a:rPr>
              <a:t> Pipeline</a:t>
            </a:r>
            <a:endParaRPr b="1" sz="3100">
              <a:solidFill>
                <a:schemeClr val="dk2"/>
              </a:solidFill>
            </a:endParaRPr>
          </a:p>
        </p:txBody>
      </p:sp>
      <p:pic>
        <p:nvPicPr>
          <p:cNvPr id="81" name="Google Shape;81;p13" title="Screenshot 2025-12-14 at 22.29.11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7797800" y="12977529"/>
            <a:ext cx="56959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 title="Screenshot 2025-12-14 at 22.32.02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886300" y="24726476"/>
            <a:ext cx="4973050" cy="160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 title="Screenshot 2025-12-14 at 22.29.52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5665225" y="19129616"/>
            <a:ext cx="12398972" cy="838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